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D6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DDE8F5"/>
                </a:solidFill>
              </a:rPr>
              <a:t>---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41648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DDE8F5"/>
                </a:solidFill>
              </a:rPr>
              <a:t>marp: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425696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DDE8F5"/>
                </a:solidFill>
              </a:rPr>
              <a:t>theme: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09744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DDE8F5"/>
                </a:solidFill>
              </a:rPr>
              <a:t>paginate: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193792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DDE8F5"/>
                </a:solidFill>
              </a:rPr>
              <a:t>size: 16:9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Video LLM 视觉 Token 压缩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1002975" cy="3474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400" b="0">
                <a:solidFill>
                  <a:srgbClr val="BBD4F0"/>
                </a:solidFill>
              </a:rPr>
              <a:t>三篇论文算法精读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05256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6984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汇报人</a:t>
            </a:r>
            <a:r>
              <a:rPr sz="1400" b="0">
                <a:solidFill>
                  <a:srgbClr val="333333"/>
                </a:solidFill>
              </a:rPr>
              <a:t>：张同学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顺序</a:t>
            </a:r>
            <a:r>
              <a:rPr sz="1400" b="0">
                <a:solidFill>
                  <a:srgbClr val="333333"/>
                </a:solidFill>
              </a:rPr>
              <a:t>：PruneVid → VidCom² → AOT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30552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共同设定</a:t>
            </a:r>
            <a:r>
              <a:rPr sz="1400" b="0">
                <a:solidFill>
                  <a:srgbClr val="333333"/>
                </a:solidFill>
              </a:rPr>
              <a:t>：Training-free、plug-and-play、保留率 R=10%–25%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背景：为什么需要 Token 压缩？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solidFill>
            <a:srgbClr val="EEF2F6"/>
          </a:solidFill>
          <a:ln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T 帧视频 → ViT → T×N 个 visual tokens → LLM (O(n²) attention)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73936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32 帧 × ~200 token/帧 ≈</a:t>
            </a:r>
            <a:r>
              <a:rPr sz="1500" b="1">
                <a:solidFill>
                  <a:srgbClr val="333333"/>
                </a:solidFill>
              </a:rPr>
              <a:t>6000+ tokens</a:t>
            </a:r>
            <a:r>
              <a:rPr sz="1500" b="0">
                <a:solidFill>
                  <a:srgbClr val="333333"/>
                </a:solidFill>
              </a:rPr>
              <a:t>，prefill 是主要瓶颈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04288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视频帧间</a:t>
            </a:r>
            <a:r>
              <a:rPr sz="1500" b="1">
                <a:solidFill>
                  <a:srgbClr val="333333"/>
                </a:solidFill>
              </a:rPr>
              <a:t>高度冗余</a:t>
            </a:r>
            <a:r>
              <a:rPr sz="1500" b="0">
                <a:solidFill>
                  <a:srgbClr val="333333"/>
                </a:solidFill>
              </a:rPr>
              <a:t>（背景静态、相邻帧相似）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目标：在</a:t>
            </a:r>
            <a:r>
              <a:rPr sz="1500" b="1">
                <a:solidFill>
                  <a:srgbClr val="333333"/>
                </a:solidFill>
              </a:rPr>
              <a:t>不微调</a:t>
            </a:r>
            <a:r>
              <a:rPr sz="1500" b="0">
                <a:solidFill>
                  <a:srgbClr val="333333"/>
                </a:solidFill>
              </a:rPr>
              <a:t>的前提下，把 token 数压到 R%，尽量不掉点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64992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三类压缩位置</a:t>
            </a:r>
            <a:r>
              <a:rPr sz="1400" b="0">
                <a:solidFill>
                  <a:srgbClr val="333333"/>
                </a:solidFill>
              </a:rPr>
              <a:t>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95344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1. Pre-LLM（ViT 输出后）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25695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2. LLM 内（prefill / decode 阶段）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956047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3. Hybrid（PruneVid 采用 1+2）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三篇论文定位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61288"/>
          <a:ext cx="11002974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595"/>
                <a:gridCol w="2420654"/>
                <a:gridCol w="2420654"/>
                <a:gridCol w="3961071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论文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会议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核心思路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压缩位置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PruneVid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ICLR'25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时空合并 + 问题引导剪枝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Pre-LLM + LLM内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VidCom²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EMNLP'25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帧级自适应 + token 独特性 TopK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Pre-LLM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AOT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CVPR'26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锚点 + 最优传输信息聚合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Pre-LLM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2679192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演进</a:t>
            </a:r>
            <a:r>
              <a:rPr sz="1400" b="0">
                <a:solidFill>
                  <a:srgbClr val="333333"/>
                </a:solidFill>
              </a:rPr>
              <a:t>：均匀压缩 → 帧/token 自适应 → 聚合替代丢弃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① PruneVid — 问题与动机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论文</a:t>
            </a:r>
            <a:r>
              <a:rPr sz="1400" b="0">
                <a:solidFill>
                  <a:srgbClr val="333333"/>
                </a:solidFill>
              </a:rPr>
              <a:t>：Visual Token Pruning for Efficient Video LLMs (ICLR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观察</a:t>
            </a:r>
            <a:r>
              <a:rPr sz="1400" b="0">
                <a:solidFill>
                  <a:srgbClr val="333333"/>
                </a:solidFill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21992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视频有大量</a:t>
            </a:r>
            <a:r>
              <a:rPr sz="1500" b="1">
                <a:solidFill>
                  <a:srgbClr val="333333"/>
                </a:solidFill>
              </a:rPr>
              <a:t>静态背景</a:t>
            </a:r>
            <a:r>
              <a:rPr sz="1500" b="0">
                <a:solidFill>
                  <a:srgbClr val="333333"/>
                </a:solidFill>
              </a:rPr>
              <a:t>（相机不动、物体不动）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52344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相邻帧 token</a:t>
            </a:r>
            <a:r>
              <a:rPr sz="1500" b="1">
                <a:solidFill>
                  <a:srgbClr val="333333"/>
                </a:solidFill>
              </a:rPr>
              <a:t>高度相似</a:t>
            </a:r>
            <a:r>
              <a:rPr sz="1500" b="0">
                <a:solidFill>
                  <a:srgbClr val="333333"/>
                </a:solidFill>
              </a:rPr>
              <a:t>（时序冗余）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82696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但并非所有视觉 token 都与</a:t>
            </a:r>
            <a:r>
              <a:rPr sz="1500" b="1">
                <a:solidFill>
                  <a:srgbClr val="333333"/>
                </a:solidFill>
              </a:rPr>
              <a:t>问题</a:t>
            </a:r>
            <a:r>
              <a:rPr sz="1500" b="0">
                <a:solidFill>
                  <a:srgbClr val="333333"/>
                </a:solidFill>
              </a:rPr>
              <a:t>相关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设计原则</a:t>
            </a:r>
            <a:r>
              <a:rPr sz="1400" b="0">
                <a:solidFill>
                  <a:srgbClr val="333333"/>
                </a:solidFill>
              </a:rPr>
              <a:t>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43399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1. Training-free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873751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2. 先消减视频固有冗余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404103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3. 再保留与问题相关的 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PruneVid — 整体流程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1002975" cy="1792224"/>
          </a:xfrm>
          <a:prstGeom prst="rect">
            <a:avLst/>
          </a:prstGeom>
          <a:solidFill>
            <a:srgbClr val="EEF2F6"/>
          </a:solidFill>
          <a:ln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1682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输入视频 (T帧)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[Stage A] 时空 Token 合并 (Pre-LLM)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↓ 压缩后的 visual tokens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[Stage B] LLM 第 M 层：Q→V attention 剪枝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↓ 保留 Top-α% tokens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[Stage B] KV cache 压缩 → 后续层 + decode 加速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90672"/>
            <a:ext cx="11002975" cy="47902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关键超参</a:t>
            </a:r>
            <a:r>
              <a:rPr sz="1400" b="0">
                <a:solidFill>
                  <a:srgbClr val="333333"/>
                </a:solidFill>
              </a:rPr>
              <a:t>：τ=0.8（静态阈值）、γ=0.25（时序段数）、β=0.5（聚类比例）、α=0.4（保留比例）、M=10（剪枝层）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PruneVid Stage A：时序分段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Step 1 — 帧级聚类（DPC-KNN）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每帧平均池化得特征 f^(t)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21992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DPC-KNN 将 T 帧分为 B 个时序段 {T₁…T_B}（B ∝ γ·T）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52344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同段内帧内容相似（同一场景/镜头）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82696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直觉</a:t>
            </a:r>
            <a:r>
              <a:rPr sz="1400" b="0">
                <a:solidFill>
                  <a:srgbClr val="333333"/>
                </a:solidFill>
              </a:rPr>
              <a:t>：先把视频切成「语义连续」的片段，再在段内做冗余消除。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PruneVid Stage A：静态 token 时序合并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对每个时序段 T_b、每个空间位置 i：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1. 取段内所有帧该位置的 token 序列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21992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2. 计算两两 cosine 相似度，得平均相似度 s̄_i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52344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3. 若 s̄_i ≥ τ →</a:t>
            </a:r>
            <a:r>
              <a:rPr sz="1500" b="1">
                <a:solidFill>
                  <a:srgbClr val="333333"/>
                </a:solidFill>
              </a:rPr>
              <a:t>静态 token</a:t>
            </a:r>
            <a:r>
              <a:rPr sz="1500" b="0">
                <a:solidFill>
                  <a:srgbClr val="333333"/>
                </a:solidFill>
              </a:rPr>
              <a:t>（背景）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82696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4. 静态 token：</a:t>
            </a:r>
            <a:r>
              <a:rPr sz="1500" b="1">
                <a:solidFill>
                  <a:srgbClr val="333333"/>
                </a:solidFill>
              </a:rPr>
              <a:t>时序平均</a:t>
            </a:r>
            <a:r>
              <a:rPr sz="1500" b="0">
                <a:solidFill>
                  <a:srgbClr val="333333"/>
                </a:solidFill>
              </a:rPr>
              <a:t>→ 1 个 token 代表整段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11002975" cy="50026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$\tilde{X}_v^{(b)}(i) = \frac{1}{|T_b|}\sum_{t \in T_b} X_v^{(t)}(i)$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68177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动态 token</a:t>
            </a:r>
            <a:r>
              <a:rPr sz="1400" b="0">
                <a:solidFill>
                  <a:srgbClr val="333333"/>
                </a:solidFill>
              </a:rPr>
              <a:t>（运动区域）保留每帧独立表示。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PruneVid Stage A：空间聚类合并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对每帧的静态/动态 token</a:t>
            </a:r>
            <a:r>
              <a:rPr sz="1400" b="1">
                <a:solidFill>
                  <a:srgbClr val="333333"/>
                </a:solidFill>
              </a:rPr>
              <a:t>分别</a:t>
            </a:r>
            <a:r>
              <a:rPr sz="1400" b="0">
                <a:solidFill>
                  <a:srgbClr val="333333"/>
                </a:solidFill>
              </a:rPr>
              <a:t>DPC-KNN 聚类：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簇数 ∝ β × |静态或动态 token 数|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21992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簇内 token</a:t>
            </a:r>
            <a:r>
              <a:rPr sz="1500" b="1">
                <a:solidFill>
                  <a:srgbClr val="333333"/>
                </a:solidFill>
              </a:rPr>
              <a:t>取平均</a:t>
            </a:r>
            <a:r>
              <a:rPr sz="1500" b="0">
                <a:solidFill>
                  <a:srgbClr val="333333"/>
                </a:solidFill>
              </a:rPr>
              <a:t>→ 1 个代表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52344"/>
            <a:ext cx="11002975" cy="53920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效果</a:t>
            </a:r>
            <a:r>
              <a:rPr sz="1400" b="0">
                <a:solidFill>
                  <a:srgbClr val="333333"/>
                </a:solidFill>
              </a:rPr>
              <a:t>：Stage A 结束后 token 数大幅下降，且主要在 Pre-LLM 完成，不破坏 FlashAttention 兼容路径（若只走 Stage A）。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PruneVid Stage B：问题引导剪枝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在 LLM 第 M 层</a:t>
            </a:r>
            <a:r>
              <a:rPr sz="1400" b="0">
                <a:solidFill>
                  <a:srgbClr val="333333"/>
                </a:solidFill>
              </a:rPr>
              <a:t>（非最后一层）：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1. 计算 cross-attention：问题 token Q → 视觉 token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21992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2. 对每个 visual token，取所有问题 token 上的</a:t>
            </a:r>
            <a:r>
              <a:rPr sz="1500" b="1">
                <a:solidFill>
                  <a:srgbClr val="333333"/>
                </a:solidFill>
              </a:rPr>
              <a:t>max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52344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3. 保留 Top-α%（默认 40%）高 attention 的 visual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82696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为什么用 max pooling？</a:t>
            </a:r>
            <a:r>
              <a:rPr sz="1400" b="0">
                <a:solidFill>
                  <a:srgbClr val="333333"/>
                </a:solidFill>
              </a:rPr>
              <a:t>并非每个问题词都重要，取 max 捕获「至少被一个关键词关注到」的 token。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KV cache 压缩</a:t>
            </a:r>
            <a:r>
              <a:rPr sz="1400" b="0">
                <a:solidFill>
                  <a:srgbClr val="333333"/>
                </a:solidFill>
              </a:rPr>
              <a:t>：前 M 层的 KV 只保留选中 token → decode 也加速。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PruneVid — 算法小结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61288"/>
          <a:ext cx="11002974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595"/>
                <a:gridCol w="2420654"/>
                <a:gridCol w="2420654"/>
                <a:gridCol w="3961071"/>
              </a:tblGrid>
              <a:tr h="34381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模块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输入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操作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输出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</a:tr>
              <a:tr h="34381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时序分段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T 帧特征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DPC-KNN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B 个片段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34381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静态合并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段内 token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时序平均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少 token/段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</a:tr>
              <a:tr h="34381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空间聚类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静/动 token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DPC-KNN + 均值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更少 token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3438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问题剪枝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Q+V @ layer M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Top-α% attention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最终 token 集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3008376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特点</a:t>
            </a:r>
            <a:r>
              <a:rPr sz="1400" b="0">
                <a:solidFill>
                  <a:srgbClr val="333333"/>
                </a:solidFill>
              </a:rPr>
              <a:t>：唯一使用</a:t>
            </a:r>
            <a:r>
              <a:rPr sz="1400" b="1">
                <a:solidFill>
                  <a:srgbClr val="333333"/>
                </a:solidFill>
              </a:rPr>
              <a:t>文本信息</a:t>
            </a:r>
            <a:r>
              <a:rPr sz="1400" b="0">
                <a:solidFill>
                  <a:srgbClr val="333333"/>
                </a:solidFill>
              </a:rPr>
              <a:t>的方法；Hybrid 路线。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PruneVid — 论文结果（参考）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61288"/>
          <a:ext cx="11002974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595"/>
                <a:gridCol w="2420654"/>
                <a:gridCol w="2420654"/>
                <a:gridCol w="3961071"/>
              </a:tblGrid>
              <a:tr h="3535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模型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MVBench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VideoMME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压缩率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</a:tr>
              <a:tr h="3535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PLLaVA-7B baseline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47.6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45.3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100%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+ PruneVid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~持平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~持平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~16–20% tokens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235000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FLOPs ↓74–80%，TTFT ↑1.55×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② VidCom² — 问题与动机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论文</a:t>
            </a:r>
            <a:r>
              <a:rPr sz="1400" b="0">
                <a:solidFill>
                  <a:srgbClr val="333333"/>
                </a:solidFill>
              </a:rPr>
              <a:t>：Video Compression Commander (EMNLP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两篇前作留下的问题</a:t>
            </a:r>
            <a:r>
              <a:rPr sz="1400" b="0">
                <a:solidFill>
                  <a:srgbClr val="333333"/>
                </a:solidFill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21992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1.</a:t>
            </a:r>
            <a:r>
              <a:rPr sz="1500" b="1">
                <a:solidFill>
                  <a:srgbClr val="333333"/>
                </a:solidFill>
              </a:rPr>
              <a:t>均匀压缩各帧</a:t>
            </a:r>
            <a:r>
              <a:rPr sz="1500" b="0">
                <a:solidFill>
                  <a:srgbClr val="333333"/>
                </a:solidFill>
              </a:rPr>
              <a:t>→ 关键帧（转场、动作突变）信息损失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52344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2. LLM 内剪枝 → 不兼容 FlashAttention 等高效算子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82696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核心思想</a:t>
            </a:r>
            <a:r>
              <a:rPr sz="1400" b="0">
                <a:solidFill>
                  <a:srgbClr val="333333"/>
                </a:solidFill>
              </a:rPr>
              <a:t>：每帧「独特性」不同 →</a:t>
            </a:r>
            <a:r>
              <a:rPr sz="1400" b="1">
                <a:solidFill>
                  <a:srgbClr val="333333"/>
                </a:solidFill>
              </a:rPr>
              <a:t>分配不同压缩强度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全程 Pre-LLM</a:t>
            </a:r>
            <a:r>
              <a:rPr sz="1400" b="0">
                <a:solidFill>
                  <a:srgbClr val="333333"/>
                </a:solidFill>
              </a:rPr>
              <a:t>，输出固定平均保留率 R。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VidCom² — 两阶段框架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1002975" cy="1353312"/>
          </a:xfrm>
          <a:prstGeom prst="rect">
            <a:avLst/>
          </a:prstGeom>
          <a:solidFill>
            <a:srgbClr val="EEF2F6"/>
          </a:solidFill>
          <a:ln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1243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Stage 1: Frame Compression Adjustment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→ 计算每帧独特性 u_t → 分配每帧保留率 r_t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Stage 2: Adaptive Token Compression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→ 计算每个 token 综合独特性 → 每帧 TopK(r_t × 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与 PruneVid 对比</a:t>
            </a:r>
            <a:r>
              <a:rPr sz="1400" b="0">
                <a:solidFill>
                  <a:srgbClr val="333333"/>
                </a:solidFill>
              </a:rPr>
              <a:t>：不做 LLM 内操作；不做静态/动态分离；用</a:t>
            </a:r>
            <a:r>
              <a:rPr sz="1400" b="1">
                <a:solidFill>
                  <a:srgbClr val="333333"/>
                </a:solidFill>
              </a:rPr>
              <a:t>独特性分数</a:t>
            </a:r>
            <a:r>
              <a:rPr sz="1400" b="0">
                <a:solidFill>
                  <a:srgbClr val="333333"/>
                </a:solidFill>
              </a:rPr>
              <a:t>替代 attention。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VidCom² Stage 1：帧独特性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全局视频表示</a:t>
            </a:r>
            <a:r>
              <a:rPr sz="1400" b="0">
                <a:solidFill>
                  <a:srgbClr val="333333"/>
                </a:solidFill>
              </a:rPr>
              <a:t>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$g_v = \frac{1}{T \cdot M}\sum_{t,m} x_{t,m}^v$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21992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Token 视频级独特性</a:t>
            </a:r>
            <a:r>
              <a:rPr sz="1400" b="0">
                <a:solidFill>
                  <a:srgbClr val="333333"/>
                </a:solidFill>
              </a:rPr>
              <a:t>（与全局越不像 → 越独特）：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52344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$u^{video}_{t,m} = -\cos(x_{t,m}^v,\; g_v)$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82696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帧分数</a:t>
            </a:r>
            <a:r>
              <a:rPr sz="1400" b="0">
                <a:solidFill>
                  <a:srgbClr val="333333"/>
                </a:solidFill>
              </a:rPr>
              <a:t>= 帧内 token 独特性均值：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$u_t = \frac{1}{M}\sum_m u^{video}_{t,m}$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43399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直觉</a:t>
            </a:r>
            <a:r>
              <a:rPr sz="1400" b="0">
                <a:solidFill>
                  <a:srgbClr val="333333"/>
                </a:solidFill>
              </a:rPr>
              <a:t>：若一帧充满「和整段视频都不一样」的 token，该帧更关键。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VidCom² Stage 1：保留率分配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Softmax 归一化帧权重：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1002975" cy="56751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$\tilde{u}_t = \frac{u_t - \max(u)}{\tau}, \quad \sigma_t = \text{softmax}(\tilde{u}_t)$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14021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每帧保留率（平均仍为 R）：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44373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$r_t = R \times \left(1 + \sigma_t - \frac{1}{T}\right)$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74725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独特帧：r_t &gt; R（多留 token）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05077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冗余帧：r_t &lt; R（多删 token）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5429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全局约束：Σr_t / T ≈ 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VidCom² Stage 2：Token 独特性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帧内独特性</a:t>
            </a:r>
            <a:r>
              <a:rPr sz="1400" b="0">
                <a:solidFill>
                  <a:srgbClr val="333333"/>
                </a:solidFill>
              </a:rPr>
              <a:t>（与帧均值越不像 → 越独特）：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$u^{frame}_{t,m} = -\cos(x_{t,m}^v,\; g_{f,t})$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21992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综合分数</a:t>
            </a:r>
            <a:r>
              <a:rPr sz="1400" b="0">
                <a:solidFill>
                  <a:srgbClr val="333333"/>
                </a:solidFill>
              </a:rPr>
              <a:t>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52344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$u_{t,m} = u^{frame}_{t,m} + u^{video}_{t,m}$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82696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选择</a:t>
            </a:r>
            <a:r>
              <a:rPr sz="1400" b="0">
                <a:solidFill>
                  <a:srgbClr val="333333"/>
                </a:solidFill>
              </a:rPr>
              <a:t>：每帧保留 TopK(u, r_t × 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直觉</a:t>
            </a:r>
            <a:r>
              <a:rPr sz="1400" b="0">
                <a:solidFill>
                  <a:srgbClr val="333333"/>
                </a:solidFill>
              </a:rPr>
              <a:t>：同时「帧内少见」且「全片少见」的 token 优先保留。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VidCom² — 算法小结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61288"/>
          <a:ext cx="11002975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833"/>
                <a:gridCol w="3961071"/>
                <a:gridCol w="3961071"/>
              </a:tblGrid>
              <a:tr h="3413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步骤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公式/操作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作用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</a:tr>
              <a:tr h="34137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全局均值 g_v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mean pooling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视频摘要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帧分数 u_t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mean(-cos to g_v)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帧级重要性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</a:tr>
              <a:tr h="34137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分配 r_t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R × softmax 权重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差异化预算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34137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token 分数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u_frame + u_video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双层独特性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</a:tr>
              <a:tr h="34137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选择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per-frame TopK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最终压缩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3337560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优势</a:t>
            </a:r>
            <a:r>
              <a:rPr sz="1400" b="0">
                <a:solidFill>
                  <a:srgbClr val="333333"/>
                </a:solidFill>
              </a:rPr>
              <a:t>：R=25% 时达 upper bound</a:t>
            </a:r>
            <a:r>
              <a:rPr sz="1400" b="1">
                <a:solidFill>
                  <a:srgbClr val="333333"/>
                </a:solidFill>
              </a:rPr>
              <a:t>99.6%</a:t>
            </a:r>
            <a:r>
              <a:rPr sz="1400" b="0">
                <a:solidFill>
                  <a:srgbClr val="333333"/>
                </a:solidFill>
              </a:rPr>
              <a:t>；可叠加到其他压缩器上。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VidCom² — 论文结果（LLaVA-OV, R=25%）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61288"/>
          <a:ext cx="11002974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595"/>
                <a:gridCol w="2420654"/>
                <a:gridCol w="2420654"/>
                <a:gridCol w="3961071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MVBench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VideoMME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Avg%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DyCoke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49.5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51.0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87.0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SparseVLM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56.4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57.3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97.5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VidCom²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57.2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58.6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99.6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2679192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LLM 生成延迟 ↓70.8%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③ AOT — 问题与动机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51442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论文</a:t>
            </a:r>
            <a:r>
              <a:rPr sz="1400" b="0">
                <a:solidFill>
                  <a:srgbClr val="333333"/>
                </a:solidFill>
              </a:rPr>
              <a:t>：Token Reduction via Local and Global Contexts Optimization (CVPR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0575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AOT</a:t>
            </a:r>
            <a:r>
              <a:rPr sz="1400" b="0">
                <a:solidFill>
                  <a:srgbClr val="333333"/>
                </a:solidFill>
              </a:rPr>
              <a:t>=</a:t>
            </a:r>
            <a:r>
              <a:rPr sz="1400" b="1">
                <a:solidFill>
                  <a:srgbClr val="333333"/>
                </a:solidFill>
              </a:rPr>
              <a:t>A</a:t>
            </a:r>
            <a:r>
              <a:rPr sz="1400" b="0">
                <a:solidFill>
                  <a:srgbClr val="333333"/>
                </a:solidFill>
              </a:rPr>
              <a:t>nchors +</a:t>
            </a:r>
            <a:r>
              <a:rPr sz="1400" b="1">
                <a:solidFill>
                  <a:srgbClr val="333333"/>
                </a:solidFill>
              </a:rPr>
              <a:t>O</a:t>
            </a:r>
            <a:r>
              <a:rPr sz="1400" b="0">
                <a:solidFill>
                  <a:srgbClr val="333333"/>
                </a:solidFill>
              </a:rPr>
              <a:t>ptimal</a:t>
            </a:r>
            <a:r>
              <a:rPr sz="1400" b="1">
                <a:solidFill>
                  <a:srgbClr val="333333"/>
                </a:solidFill>
              </a:rPr>
              <a:t>T</a:t>
            </a:r>
            <a:r>
              <a:rPr sz="1400" b="0">
                <a:solidFill>
                  <a:srgbClr val="333333"/>
                </a:solidFill>
              </a:rPr>
              <a:t>ransport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60927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前人做法的问题</a:t>
            </a:r>
            <a:r>
              <a:rPr sz="1400" b="0">
                <a:solidFill>
                  <a:srgbClr val="333333"/>
                </a:solidFill>
              </a:rPr>
              <a:t>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91279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TopK / 聚类 / 直接丢弃 →</a:t>
            </a:r>
            <a:r>
              <a:rPr sz="1500" b="1">
                <a:solidFill>
                  <a:srgbClr val="333333"/>
                </a:solidFill>
              </a:rPr>
              <a:t>被删 token 的信息彻底丢失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21631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低分 token 未必无用（可能含细粒度语义）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51983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AOT 思路</a:t>
            </a:r>
            <a:r>
              <a:rPr sz="1400" b="0">
                <a:solidFill>
                  <a:srgbClr val="333333"/>
                </a:solidFill>
              </a:rPr>
              <a:t>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2335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选</a:t>
            </a:r>
            <a:r>
              <a:rPr sz="1500" b="1">
                <a:solidFill>
                  <a:srgbClr val="333333"/>
                </a:solidFill>
              </a:rPr>
              <a:t>锚点 token</a:t>
            </a:r>
            <a:r>
              <a:rPr sz="1500" b="0">
                <a:solidFill>
                  <a:srgbClr val="333333"/>
                </a:solidFill>
              </a:rPr>
              <a:t>留下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12687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用</a:t>
            </a:r>
            <a:r>
              <a:rPr sz="1500" b="1">
                <a:solidFill>
                  <a:srgbClr val="333333"/>
                </a:solidFill>
              </a:rPr>
              <a:t>最优传输（OT）</a:t>
            </a:r>
            <a:r>
              <a:rPr sz="1500" b="0">
                <a:solidFill>
                  <a:srgbClr val="333333"/>
                </a:solidFill>
              </a:rPr>
              <a:t>把删掉 token 的信息</a:t>
            </a:r>
            <a:r>
              <a:rPr sz="1500" b="1">
                <a:solidFill>
                  <a:srgbClr val="333333"/>
                </a:solidFill>
              </a:rPr>
              <a:t>聚合</a:t>
            </a:r>
            <a:r>
              <a:rPr sz="1500" b="0">
                <a:solidFill>
                  <a:srgbClr val="333333"/>
                </a:solidFill>
              </a:rPr>
              <a:t>进锚点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AOT — 整体流程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1002975" cy="2231136"/>
          </a:xfrm>
          <a:prstGeom prst="rect">
            <a:avLst/>
          </a:prstGeom>
          <a:solidFill>
            <a:srgbClr val="EEF2F6"/>
          </a:solidFill>
          <a:ln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每帧 visual tokens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[Phase 0] 选 Global + Local 锚点 (M个)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[Phase I]  帧内 OT：unanchors → 聚合到 anchors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[Phase II] 帧间 OT：clip 内跨帧聚合 + 保留动态 token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↓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压缩后的 token 序列 →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29584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两阶段 OT</a:t>
            </a:r>
            <a:r>
              <a:rPr sz="1400" b="0">
                <a:solidFill>
                  <a:srgbClr val="333333"/>
                </a:solidFill>
              </a:rPr>
              <a:t>：先空间（帧内），后时间（帧间）。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AOT Phase 0：锚点选取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Global Anchors</a:t>
            </a:r>
            <a:r>
              <a:rPr sz="1400" b="0">
                <a:solidFill>
                  <a:srgbClr val="333333"/>
                </a:solidFill>
              </a:rPr>
              <a:t>（语义重要）：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ViT 最后层，按 [CLS]→patch 的 attention Top-K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21992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Local Anchors</a:t>
            </a:r>
            <a:r>
              <a:rPr sz="1400" b="0">
                <a:solidFill>
                  <a:srgbClr val="333333"/>
                </a:solidFill>
              </a:rPr>
              <a:t>（空间细节）：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52344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特征图划 W 个 grid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82696"/>
            <a:ext cx="107743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/>
            <a:r>
              <a:rPr sz="1500" b="0">
                <a:solidFill>
                  <a:srgbClr val="333333"/>
                </a:solidFill>
              </a:rPr>
              <a:t>•  每窗按 [CLS] attention Top-K_w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11002975" cy="49672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$\mathbf{X}^{anchors} = \mathbf{x}^{global} \cup \mathbf{x}^{local}$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64637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其余 token =</a:t>
            </a:r>
            <a:r>
              <a:rPr sz="1400" b="1">
                <a:solidFill>
                  <a:srgbClr val="333333"/>
                </a:solidFill>
              </a:rPr>
              <a:t>unanchors</a:t>
            </a:r>
            <a:r>
              <a:rPr sz="1400" b="0">
                <a:solidFill>
                  <a:srgbClr val="333333"/>
                </a:solidFill>
              </a:rPr>
              <a:t>，等待 OT 聚合。全局/局部各约一半预算。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AOT Phase I：帧内 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代价矩阵</a:t>
            </a:r>
            <a:r>
              <a:rPr sz="1400" b="0">
                <a:solidFill>
                  <a:srgbClr val="333333"/>
                </a:solidFill>
              </a:rPr>
              <a:t>：C_ij = 1 - cos(anchor_i, unanchor_j)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最优传输</a:t>
            </a:r>
            <a:r>
              <a:rPr sz="1400" b="0">
                <a:solidFill>
                  <a:srgbClr val="333333"/>
                </a:solidFill>
              </a:rPr>
              <a:t>（Sinkhorn-Knopp 快速求解）：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21992"/>
            <a:ext cx="11002975" cy="62415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$\min_{T} \langle T, C \rangle \quad \text{s.t. } T\mathbf{1}=\mathbf{u},\; T^\top\mathbf{1}=\mathbf{v}$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01007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锚点更新</a:t>
            </a:r>
            <a:r>
              <a:rPr sz="1400" b="0">
                <a:solidFill>
                  <a:srgbClr val="333333"/>
                </a:solidFill>
              </a:rPr>
              <a:t>（聚合 unanchor 信息）：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31359"/>
            <a:ext cx="11002975" cy="53566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$\tilde{x}^a_j = \frac{x^a_j + \lambda \sum_i T^*_{ij} x^u_i}{1 + \lambda m_j}$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21885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直觉</a:t>
            </a:r>
            <a:r>
              <a:rPr sz="1400" b="0">
                <a:solidFill>
                  <a:srgbClr val="333333"/>
                </a:solidFill>
              </a:rPr>
              <a:t>：不是扔掉低分 token，而是按相似度「分配」其语义给最匹配的锚点。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AOT Phase II：帧间 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1. 视频分为若干</a:t>
            </a:r>
            <a:r>
              <a:rPr sz="1500" b="1">
                <a:solidFill>
                  <a:srgbClr val="333333"/>
                </a:solidFill>
              </a:rPr>
              <a:t>clip</a:t>
            </a:r>
            <a:r>
              <a:rPr sz="1500" b="0">
                <a:solidFill>
                  <a:srgbClr val="333333"/>
                </a:solidFill>
              </a:rPr>
              <a:t>（均匀或自适应聚类）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2. 每 clip 首帧 intra 压缩结果 =</a:t>
            </a:r>
            <a:r>
              <a:rPr sz="1500" b="1">
                <a:solidFill>
                  <a:srgbClr val="333333"/>
                </a:solidFill>
              </a:rPr>
              <a:t>temporal anchor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21992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3. 对后续帧：anchor 与当前帧 token 做 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52344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4. 若 token 与 anchor 匹配度 q_i &lt; τ →</a:t>
            </a:r>
            <a:r>
              <a:rPr sz="1500" b="1">
                <a:solidFill>
                  <a:srgbClr val="333333"/>
                </a:solidFill>
              </a:rPr>
              <a:t>保留</a:t>
            </a:r>
            <a:r>
              <a:rPr sz="1500" b="0">
                <a:solidFill>
                  <a:srgbClr val="333333"/>
                </a:solidFill>
              </a:rPr>
              <a:t>（时序变化大）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82696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5. 否则 →</a:t>
            </a:r>
            <a:r>
              <a:rPr sz="1500" b="1">
                <a:solidFill>
                  <a:srgbClr val="333333"/>
                </a:solidFill>
              </a:rPr>
              <a:t>聚合进 anchor</a:t>
            </a:r>
            <a:r>
              <a:rPr sz="1500" b="0">
                <a:solidFill>
                  <a:srgbClr val="333333"/>
                </a:solidFill>
              </a:rPr>
              <a:t>（时序冗余）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1304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效果</a:t>
            </a:r>
            <a:r>
              <a:rPr sz="1400" b="0">
                <a:solidFill>
                  <a:srgbClr val="333333"/>
                </a:solidFill>
              </a:rPr>
              <a:t>：相似帧内容合并，运动/转场 token 单独保留 → 保留动态。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AOT — 算法小结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61288"/>
          <a:ext cx="11002975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833"/>
                <a:gridCol w="3961071"/>
                <a:gridCol w="3961071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阶段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机制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解决什么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锚点选取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CLS attention + grid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空间多样性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帧内 OT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Sinkhorn 聚合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不丢被删语义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帧间 OT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clip + 动态保留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时序冗余 + 动态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2679192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与 PruneVid</a:t>
            </a:r>
            <a:r>
              <a:rPr sz="1400" b="0">
                <a:solidFill>
                  <a:srgbClr val="333333"/>
                </a:solidFill>
              </a:rPr>
              <a:t>：不用 text；不做 LLM 内剪枝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9544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与 VidCom²</a:t>
            </a:r>
            <a:r>
              <a:rPr sz="1400" b="0">
                <a:solidFill>
                  <a:srgbClr val="333333"/>
                </a:solidFill>
              </a:rPr>
              <a:t>：不用独特性分数；用 OT 聚合替代 TopK 丢弃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AOT — 论文结果（LLaVA-OV, R=25%）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61288"/>
          <a:ext cx="11002973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297"/>
                <a:gridCol w="1540416"/>
                <a:gridCol w="1540416"/>
                <a:gridCol w="1540416"/>
                <a:gridCol w="5281428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MVBench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EgoSchema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VideoMME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Avg%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PruneVid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57.4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59.9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57.4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98.6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VidCom²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57.2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58.6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99.6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AOT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58.7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61.3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57.5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100.0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2679192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10% 保留率仍保持</a:t>
            </a:r>
            <a:r>
              <a:rPr sz="1400" b="1">
                <a:solidFill>
                  <a:srgbClr val="333333"/>
                </a:solidFill>
              </a:rPr>
              <a:t>97.6%</a:t>
            </a:r>
            <a:r>
              <a:rPr sz="1400" b="0">
                <a:solidFill>
                  <a:srgbClr val="333333"/>
                </a:solidFill>
              </a:rPr>
              <a:t>性能；FLOPs 最低</a:t>
            </a:r>
            <a:r>
              <a:rPr sz="1400" b="1">
                <a:solidFill>
                  <a:srgbClr val="333333"/>
                </a:solidFill>
              </a:rPr>
              <a:t>8.3%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三篇算法横向对比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61288"/>
          <a:ext cx="11002973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654"/>
                <a:gridCol w="2860773"/>
                <a:gridCol w="2860773"/>
                <a:gridCol w="2860773"/>
              </a:tblGrid>
              <a:tr h="30305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PruneVid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VidCom²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AOT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</a:tr>
              <a:tr h="30305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压缩位置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Pre-LLM + LLM内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Pre-LLM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Pre-LLM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30305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时序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静态 token 时序均值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帧级 r_t 分配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OT 跨帧聚合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</a:tr>
              <a:tr h="30305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空间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DPC-KNN 聚类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TopK 独特性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Global+Local 锚点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30305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文本感知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✓ Q→V attention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✗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✗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</a:tr>
              <a:tr h="30305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信息处理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合并 + 丢弃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TopK 丢弃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OT 聚合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</a:tr>
              <a:tr h="3030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核心数学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聚类 + attention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Softmax 权重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Sinkhorn OT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方法演进（算法视角）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61288"/>
            <a:ext cx="11002975" cy="1353312"/>
          </a:xfrm>
          <a:prstGeom prst="rect">
            <a:avLst/>
          </a:prstGeom>
          <a:solidFill>
            <a:srgbClr val="EEF2F6"/>
          </a:solidFill>
          <a:ln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1243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PruneVid                VidCom²                  AOT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────────                ───────                  ───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识别静态区域      →     量化帧独特性      →     选锚点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时序/空间合并           差异化 TopK              OT 聚合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 问题 attention                                   保留动态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趋势</a:t>
            </a:r>
            <a:r>
              <a:rPr sz="1400" b="0">
                <a:solidFill>
                  <a:srgbClr val="333333"/>
                </a:solidFill>
              </a:rPr>
              <a:t>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82112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1. 压缩粒度：均匀 → 帧级 → 帧内+帧间联合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12463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2. 信息处理：丢弃 → 聚合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42816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3. 位置：Hybrid → 纯 Pre-LLM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复现工作概览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0">
                <a:solidFill>
                  <a:srgbClr val="333333"/>
                </a:solidFill>
              </a:rPr>
              <a:t>三篇论文均在</a:t>
            </a:r>
            <a:r>
              <a:rPr sz="1400" b="1">
                <a:solidFill>
                  <a:srgbClr val="333333"/>
                </a:solidFill>
              </a:rPr>
              <a:t>lmms-eval</a:t>
            </a:r>
            <a:r>
              <a:rPr sz="1400" b="0">
                <a:solidFill>
                  <a:srgbClr val="333333"/>
                </a:solidFill>
              </a:rPr>
              <a:t>框架下复现，training-free、plug-and-play。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691640"/>
          <a:ext cx="11002975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833"/>
                <a:gridCol w="3961071"/>
                <a:gridCol w="3961071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论文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环境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PruneVid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conda PruneVid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VideoMME ✓；其余 benchmark 进行中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VidCom²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conda VidCom2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环境+smoke test ✓；卡在 MLVU 预下载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AOT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conda AOT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LLaVA-OV 大部分 ✓；VideoMME 20% 跑批中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3209544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共同坑</a:t>
            </a:r>
            <a:r>
              <a:rPr sz="1400" b="0">
                <a:solidFill>
                  <a:srgbClr val="333333"/>
                </a:solidFill>
              </a:rPr>
              <a:t>：nohup 不加载代理 → HF 超时；EgoSchema 无公开 GT，用作者 submission 比对。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PruneVid 复现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设置</a:t>
            </a:r>
            <a:r>
              <a:rPr sz="1400" b="0">
                <a:solidFill>
                  <a:srgbClr val="333333"/>
                </a:solidFill>
              </a:rPr>
              <a:t>：LLaVA-OV-7B，R=25%，32 帧，官方 prunevid 分支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691640"/>
          <a:ext cx="11002974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595"/>
                <a:gridCol w="2420654"/>
                <a:gridCol w="2420654"/>
                <a:gridCol w="3961071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Benchmark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复现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论文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VideoMME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44.89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45.0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-0.11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MVBench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进行中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47.6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EgoSchema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进行中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49.0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3209544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结论</a:t>
            </a:r>
            <a:r>
              <a:rPr sz="1400" b="0">
                <a:solidFill>
                  <a:srgbClr val="333333"/>
                </a:solidFill>
              </a:rPr>
              <a:t>：VideoMME 与论文几乎一致，说明 Stage A/B 实现可信。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VidCom² 复现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设置</a:t>
            </a:r>
            <a:r>
              <a:rPr sz="1400" b="0">
                <a:solidFill>
                  <a:srgbClr val="333333"/>
                </a:solidFill>
              </a:rPr>
              <a:t>：run_all.sh 串行跑 Table1/2 + 效率 + Qwen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691640"/>
          <a:ext cx="11002974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487"/>
                <a:gridCol w="5501487"/>
              </a:tblGrid>
              <a:tr h="34381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阶段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</a:tr>
              <a:tr h="34381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MVBench smoke (limit=5)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✓ 通过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34381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数据 prefetch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MVBench / EgoSchema / VideoMME ✓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</a:tr>
              <a:tr h="34381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MLVU_dev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卡住（285GB，仅 ~35GB，ReadTimeout）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</a:tr>
              <a:tr h="34381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Table 1 正式评测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未开始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3538728"/>
            <a:ext cx="11002975" cy="52858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风险</a:t>
            </a:r>
            <a:r>
              <a:rPr sz="1400" b="0">
                <a:solidFill>
                  <a:srgbClr val="333333"/>
                </a:solidFill>
              </a:rPr>
              <a:t>：MLVU 8 个 video_part_*.zip 经 xethub CDN，无代理时极易超时；当前进程在 resume 循环中，</a:t>
            </a:r>
            <a:r>
              <a:rPr sz="1400" b="1">
                <a:solidFill>
                  <a:srgbClr val="333333"/>
                </a:solidFill>
              </a:rPr>
              <a:t>大概率失败或极慢</a:t>
            </a:r>
            <a:r>
              <a:rPr sz="1400" b="0">
                <a:solidFill>
                  <a:srgbClr val="333333"/>
                </a:solidFill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22174"/>
            <a:ext cx="11002975" cy="47902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建议</a:t>
            </a:r>
            <a:r>
              <a:rPr sz="1400" b="0">
                <a:solidFill>
                  <a:srgbClr val="333333"/>
                </a:solidFill>
              </a:rPr>
              <a:t>：先跳过 MLVU，跑 MVBench/LVB/VideoMME；MLVU 单独 source env.sh 后断点续传。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AOT 复现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设置</a:t>
            </a:r>
            <a:r>
              <a:rPr sz="1400" b="0">
                <a:solidFill>
                  <a:srgbClr val="333333"/>
                </a:solidFill>
              </a:rPr>
              <a:t>：LLaVA-OV-7B，run_eval.sh，Sinkhorn OT + 锚点选择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691640"/>
          <a:ext cx="11002975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833"/>
                <a:gridCol w="3961071"/>
                <a:gridCol w="3961071"/>
              </a:tblGrid>
              <a:tr h="34381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Benchmark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10–25%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与论文</a:t>
                      </a:r>
                    </a:p>
                  </a:txBody>
                  <a:tcPr anchor="ctr" marL="101600" marR="101600" marT="50800" marB="50800">
                    <a:solidFill>
                      <a:srgbClr val="2E75B6"/>
                    </a:solidFill>
                  </a:tcPr>
                </a:tc>
              </a:tr>
              <a:tr h="34381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MVBench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完成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Δ ≤ 1pt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34381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EgoSchema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完成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94–99% 预测一致</a:t>
                      </a:r>
                    </a:p>
                  </a:txBody>
                  <a:tcPr anchor="ctr" marL="101600" marR="101600" marT="50800" marB="50800">
                    <a:solidFill>
                      <a:srgbClr val="F2F7FB"/>
                    </a:solidFill>
                  </a:tcPr>
                </a:tc>
              </a:tr>
              <a:tr h="34381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LongVideoBench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完成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低 2–3pt</a:t>
                      </a:r>
                    </a:p>
                  </a:txBody>
                  <a:tcPr anchor="ctr" marL="101600" marR="101600" marT="50800" marB="50800">
                    <a:solidFill>
                      <a:srgbClr val="FFFFFF"/>
                    </a:solidFill>
                  </a:tcPr>
                </a:tc>
              </a:tr>
              <a:tr h="34381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VideoMME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10/15/25% ✓，20% 进行中 (~36%)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低 ~3pt</a:t>
                      </a:r>
                    </a:p>
                  </a:txBody>
                  <a:tcPr anchor="ctr" marL="101600" marR="101600" marT="50800" marB="50800"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353872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00" b="1">
                <a:solidFill>
                  <a:srgbClr val="333333"/>
                </a:solidFill>
              </a:rPr>
              <a:t>观察</a:t>
            </a:r>
            <a:r>
              <a:rPr sz="1400" b="0">
                <a:solidFill>
                  <a:srgbClr val="333333"/>
                </a:solidFill>
              </a:rPr>
              <a:t>：MVBench 贴近论文；VideoMME/LVB 系统性偏低，可能与视频缓存或帧采样有关。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100297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面试可讨论（算法向）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96695"/>
            <a:ext cx="11002975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1. PruneVid 的 Q→V 剪枝 vs AOT 的 text-agnostic：各适合什么任务？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2. VidCom² 的帧独特性 vs AOT 的 OT 聚合：能否组合？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21992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3. OT 代价矩阵用 cosine 距离的合理性？Sinkhorn 收敛性？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52344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4. 静态/动态分离（PruneVid）vs 独特性分数（VidCom²）哪个更稳？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82696"/>
            <a:ext cx="11002975" cy="4754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00" b="0">
                <a:solidFill>
                  <a:srgbClr val="333333"/>
                </a:solidFill>
              </a:rPr>
              <a:t>5. R=10% 时谁更能扛？AOT 论文 claim 97.6% 的原因？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谢谢老师！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BBD4F0"/>
                </a:solidFill>
              </a:rPr>
              <a:t>欢迎提问与指正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