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Video LLM 视觉 Token 压缩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文献精读与复现进展汇报</a:t>
            </a:r>
          </a:p>
          <a:p>
            <a:pPr lvl="0" indent="0" marL="0">
              <a:buNone/>
            </a:pPr>
            <a:r>
              <a:rPr b="1"/>
              <a:t>汇报人</a:t>
            </a:r>
            <a:r>
              <a:rPr/>
              <a:t>：张同学</a:t>
            </a:r>
            <a:br/>
            <a:r>
              <a:rPr b="1"/>
              <a:t>方向</a:t>
            </a:r>
            <a:r>
              <a:rPr/>
              <a:t>：高效 Video LLM 推理（Training-free Token Compression）</a:t>
            </a:r>
            <a:br/>
            <a:r>
              <a:rPr b="1"/>
              <a:t>数据来源</a:t>
            </a:r>
            <a:r>
              <a:rPr/>
              <a:t>：孙国磊老师提供的论文列表（45篇，聚焦 2024–2026）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为什么研究这个方向？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痛点</a:t>
            </a:r>
            <a:r>
              <a:rPr/>
              <a:t>：Video LLM 将多帧视频编码为大量 visual tokens（32帧 × 每帧数百 token → 数万 token），LLM 注意力复杂度为 </a:t>
            </a:r>
            <a:r>
              <a:rPr b="1"/>
              <a:t>O(n²)</a:t>
            </a:r>
            <a:r>
              <a:rPr/>
              <a:t>，推理慢、显存高</a:t>
            </a:r>
          </a:p>
          <a:p>
            <a:pPr lvl="0"/>
            <a:r>
              <a:rPr b="1"/>
              <a:t>目标</a:t>
            </a:r>
            <a:r>
              <a:rPr/>
              <a:t>：在 </a:t>
            </a:r>
            <a:r>
              <a:rPr b="1"/>
              <a:t>不微调模型</a:t>
            </a:r>
            <a:r>
              <a:rPr/>
              <a:t> 的前提下压缩 token，兼顾精度与效率</a:t>
            </a:r>
          </a:p>
          <a:p>
            <a:pPr lvl="0"/>
            <a:r>
              <a:rPr b="1"/>
              <a:t>应用场景</a:t>
            </a:r>
            <a:r>
              <a:rPr/>
              <a:t>：MVBench、VideoMME、EgoSchema、LongVideoBench 等视频理解 benchmark</a:t>
            </a:r>
          </a:p>
          <a:p>
            <a:pPr lvl="0"/>
            <a:r>
              <a:rPr b="1"/>
              <a:t>我的工作路径</a:t>
            </a:r>
            <a:r>
              <a:rPr/>
              <a:t>：先 </a:t>
            </a:r>
            <a:r>
              <a:rPr b="1"/>
              <a:t>复现</a:t>
            </a:r>
            <a:r>
              <a:rPr/>
              <a:t> 核心论文 → 再 </a:t>
            </a:r>
            <a:r>
              <a:rPr b="1"/>
              <a:t>精读对比</a:t>
            </a:r>
            <a:r>
              <a:rPr/>
              <a:t> → 面试讨论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论文列表与选题逻辑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列表概况</a:t>
            </a:r>
            <a:r>
              <a:rPr/>
              <a:t>（截图 45 篇）： - 主题：Video / LVLM 的 </a:t>
            </a:r>
            <a:r>
              <a:rPr b="1"/>
              <a:t>token pruning / compression</a:t>
            </a:r>
            <a:r>
              <a:rPr/>
              <a:t> - 类型：Train-free 为主，少量 Train / Hybrid - 顶会密集：ICLR、CVPR、NeurIPS、EMNLP、ICML 2025–2026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精读三篇论文（汇报顺序）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顺序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论文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会议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选题理由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PruneVid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2412.16117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ICLR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时空合并 + 问题引导剪枝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VidCom²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2505.14454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EMNLP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帧级自适应 Pre-LLM 压缩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AOT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2603.01400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CVPR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OT 聚合保留被删语义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汇报脉络</a:t>
            </a:r>
            <a:r>
              <a:rPr/>
              <a:t>：PruneVid → VidCom² → AOT → 横向对比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技术路线总览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视频帧 → ViT 编码 → 大量 visual tokens
                          ↓
              ┌───────────┴───────────┐
         Pre-LLM 压缩            LLM 内压缩
    (ViT/Projector 阶段)      (Prefill/Decode 阶段)
              │                       │
    VidCom² 帧级 TopK          PruneVid 问题注意力剪枝
    AOT 帧内/帧间 OT           DyCoke KV cache 压缩
    PruneVid 时空合并</a:t>
            </a:r>
          </a:p>
          <a:p>
            <a:pPr lvl="0" indent="0" marL="0">
              <a:buNone/>
            </a:pPr>
            <a:r>
              <a:rPr b="1"/>
              <a:t>汇报脉络</a:t>
            </a:r>
            <a:r>
              <a:rPr/>
              <a:t>：PruneVid（混合压缩）→ VidCom²（帧自适应）→ AOT（OT 信息聚合）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论文 ① PruneVid（ICLR 2025）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 Token Pruning for Efficient Video LLMs</a:t>
            </a:r>
          </a:p>
          <a:p>
            <a:pPr lvl="0" indent="0" marL="0">
              <a:buNone/>
            </a:pPr>
            <a:r>
              <a:rPr b="1"/>
              <a:t>作者</a:t>
            </a:r>
            <a:r>
              <a:rPr/>
              <a:t>：港大 Visual AI Lab + 百度</a:t>
            </a:r>
            <a:br/>
            <a:r>
              <a:rPr b="1"/>
              <a:t>arXiv</a:t>
            </a:r>
            <a:r>
              <a:rPr/>
              <a:t>：2412.16117 | </a:t>
            </a:r>
            <a:r>
              <a:rPr b="1"/>
              <a:t>代码</a:t>
            </a:r>
            <a:r>
              <a:rPr/>
              <a:t>：github.com/Visual-AI/PruneVid（71 stars）</a:t>
            </a:r>
          </a:p>
          <a:p>
            <a:pPr lvl="0" indent="0" marL="0">
              <a:buNone/>
            </a:pPr>
            <a:r>
              <a:rPr b="1"/>
              <a:t>三大设计原则</a:t>
            </a:r>
            <a:r>
              <a:rPr/>
              <a:t>： 1. </a:t>
            </a:r>
            <a:r>
              <a:rPr b="1"/>
              <a:t>Training-free</a:t>
            </a:r>
            <a:r>
              <a:rPr/>
              <a:t>，即插即用 2. 压缩 </a:t>
            </a:r>
            <a:r>
              <a:rPr b="1"/>
              <a:t>视频固有冗余</a:t>
            </a:r>
            <a:r>
              <a:rPr/>
              <a:t>（时空相似） 3. 保留与 </a:t>
            </a:r>
            <a:r>
              <a:rPr b="1"/>
              <a:t>问题相关</a:t>
            </a:r>
            <a:r>
              <a:rPr/>
              <a:t> 的 visual tokens</a:t>
            </a:r>
          </a:p>
          <a:p>
            <a:pPr lvl="0" indent="0" marL="0">
              <a:buNone/>
            </a:pPr>
            <a:r>
              <a:rPr b="1"/>
              <a:t>两阶段流水线</a:t>
            </a:r>
            <a:r>
              <a:rPr/>
              <a:t>： - Stage A：</a:t>
            </a:r>
            <a:r>
              <a:rPr b="1"/>
              <a:t>Pre-LLM</a:t>
            </a:r>
            <a:r>
              <a:rPr/>
              <a:t> 时空 token 合并 - Stage B：</a:t>
            </a:r>
            <a:r>
              <a:rPr b="1"/>
              <a:t>LLM 内</a:t>
            </a:r>
            <a:r>
              <a:rPr/>
              <a:t> 问题引导剪枝 + KV cache 压缩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PruneVid 方法详解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Stage A — 时空合并</a:t>
            </a:r>
            <a:r>
              <a:rPr/>
              <a:t>： 1. DPC-KNN 将帧聚为 B 个时序段 2. 段内：cosine 相似度 &gt; τ 的 </a:t>
            </a:r>
            <a:r>
              <a:rPr b="1"/>
              <a:t>静态 token</a:t>
            </a:r>
            <a:r>
              <a:rPr/>
              <a:t> 做时序平均 3. 每帧：对静态/动态 token 分别 DPC-KNN 空间聚类 → 簇内平均</a:t>
            </a:r>
          </a:p>
          <a:p>
            <a:pPr lvl="0" indent="0" marL="0">
              <a:buNone/>
            </a:pPr>
            <a:r>
              <a:rPr b="1"/>
              <a:t>Stage B — LLM 引导剪枝</a:t>
            </a:r>
            <a:r>
              <a:rPr/>
              <a:t>： - 在第 M 层（默认第 10 层）计算 </a:t>
            </a:r>
            <a:r>
              <a:rPr b="1"/>
              <a:t>问题→视觉</a:t>
            </a:r>
            <a:r>
              <a:rPr/>
              <a:t> cross-attention - 保留 attention Top-α%（α=0.4）的视觉 token - 前 M 层 KV cache 同步压缩 → 加速 decode</a:t>
            </a:r>
          </a:p>
          <a:p>
            <a:pPr lvl="0" indent="0" marL="0">
              <a:buNone/>
            </a:pPr>
            <a:r>
              <a:rPr b="1"/>
              <a:t>效果</a:t>
            </a:r>
            <a:r>
              <a:rPr/>
              <a:t>：剪除 </a:t>
            </a:r>
            <a:r>
              <a:rPr b="1"/>
              <a:t>&gt;80%</a:t>
            </a:r>
            <a:r>
              <a:rPr/>
              <a:t> token，FLOPs ↓74–80%，TTFT ↑1.55×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PruneVid 实验与复现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论文结果</a:t>
            </a:r>
            <a:r>
              <a:rPr/>
              <a:t>（PLLaVA-7B 等）： - MVBench </a:t>
            </a:r>
            <a:r>
              <a:rPr b="1"/>
              <a:t>47.6</a:t>
            </a:r>
            <a:r>
              <a:rPr/>
              <a:t>、VideoMME </a:t>
            </a:r>
            <a:r>
              <a:rPr b="1"/>
              <a:t>45.3</a:t>
            </a:r>
            <a:r>
              <a:rPr/>
              <a:t>、EgoSchema </a:t>
            </a:r>
            <a:r>
              <a:rPr b="1"/>
              <a:t>49.0</a:t>
            </a:r>
            <a:r>
              <a:rPr/>
              <a:t>（subset） - 在后续 AOT 论文 Table 1 中仍是强 baseline（LLaVA-OV R=25%: avg </a:t>
            </a:r>
            <a:r>
              <a:rPr b="1"/>
              <a:t>98.6%</a:t>
            </a:r>
            <a:r>
              <a:rPr/>
              <a:t>）</a:t>
            </a:r>
          </a:p>
          <a:p>
            <a:pPr lvl="0" indent="0" marL="0">
              <a:buNone/>
            </a:pPr>
            <a:r>
              <a:rPr b="1"/>
              <a:t>我的复现</a:t>
            </a:r>
            <a:r>
              <a:rPr/>
              <a:t>（进行中）： - VideoMME：</a:t>
            </a:r>
            <a:r>
              <a:rPr b="1"/>
              <a:t>44.89</a:t>
            </a:r>
            <a:r>
              <a:rPr/>
              <a:t> vs 论文 45.0（Δ </a:t>
            </a:r>
            <a:r>
              <a:rPr b="1"/>
              <a:t>-0.11</a:t>
            </a:r>
            <a:r>
              <a:rPr/>
              <a:t>）✓ - MVBench / EgoSchema fullset：运行中 - 评价：实现细节敏感（层数 M、τ、γ、β 超参）</a:t>
            </a:r>
          </a:p>
          <a:p>
            <a:pPr lvl="0" indent="0" marL="0">
              <a:buNone/>
            </a:pPr>
            <a:r>
              <a:rPr b="1"/>
              <a:t>特点小结</a:t>
            </a:r>
            <a:r>
              <a:rPr/>
              <a:t>：最早系统地把 </a:t>
            </a:r>
            <a:r>
              <a:rPr b="1"/>
              <a:t>视频冗余压缩</a:t>
            </a:r>
            <a:r>
              <a:rPr/>
              <a:t> 和 </a:t>
            </a:r>
            <a:r>
              <a:rPr b="1"/>
              <a:t>问题相关剪枝</a:t>
            </a:r>
            <a:r>
              <a:rPr/>
              <a:t> 结合起来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论文 ② VidCom²（EMNLP 2025）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Video Compression Commander</a:t>
            </a:r>
          </a:p>
          <a:p>
            <a:pPr lvl="0" indent="0" marL="0">
              <a:buNone/>
            </a:pPr>
            <a:r>
              <a:rPr b="1"/>
              <a:t>arXiv</a:t>
            </a:r>
            <a:r>
              <a:rPr/>
              <a:t>：2505.14454 | </a:t>
            </a:r>
            <a:r>
              <a:rPr b="1"/>
              <a:t>代码</a:t>
            </a:r>
            <a:r>
              <a:rPr/>
              <a:t>：github.com/xuyang-liu16/VidCom2（125 stars）</a:t>
            </a:r>
          </a:p>
          <a:p>
            <a:pPr lvl="0" indent="0" marL="0">
              <a:buNone/>
            </a:pPr>
            <a:r>
              <a:rPr b="1"/>
              <a:t>核心问题</a:t>
            </a:r>
            <a:r>
              <a:rPr/>
              <a:t>（论文自陈）： 1. 均匀压缩各帧 → </a:t>
            </a:r>
            <a:r>
              <a:rPr b="1"/>
              <a:t>忽略帧间差异性</a:t>
            </a:r>
            <a:r>
              <a:rPr/>
              <a:t>，信息损失 2. 部分方法不兼容 FlashAttention 等高效算子</a:t>
            </a:r>
          </a:p>
          <a:p>
            <a:pPr lvl="0" indent="0" marL="0">
              <a:buNone/>
            </a:pPr>
            <a:r>
              <a:rPr b="1"/>
              <a:t>设计原则</a:t>
            </a:r>
            <a:r>
              <a:rPr/>
              <a:t> → </a:t>
            </a:r>
            <a:r>
              <a:rPr b="1"/>
              <a:t>两阶段框架</a:t>
            </a:r>
            <a:r>
              <a:rPr/>
              <a:t>： - </a:t>
            </a:r>
            <a:r>
              <a:rPr b="1"/>
              <a:t>Stage 1</a:t>
            </a:r>
            <a:r>
              <a:rPr/>
              <a:t>：Frame Compression Adjustment（帧级预算分配） - </a:t>
            </a:r>
            <a:r>
              <a:rPr b="1"/>
              <a:t>Stage 2</a:t>
            </a:r>
            <a:r>
              <a:rPr/>
              <a:t>：Adaptive Token Compression（token 级 TopK）</a:t>
            </a:r>
          </a:p>
          <a:p>
            <a:pPr lvl="0" indent="0" marL="0">
              <a:buNone/>
            </a:pPr>
            <a:r>
              <a:rPr b="1"/>
              <a:t>与 PruneVid 的区别</a:t>
            </a:r>
            <a:r>
              <a:rPr/>
              <a:t>：全程 </a:t>
            </a:r>
            <a:r>
              <a:rPr b="1"/>
              <a:t>Pre-LLM</a:t>
            </a:r>
            <a:r>
              <a:rPr/>
              <a:t>，不做 LLM 内剪枝；强调 </a:t>
            </a:r>
            <a:r>
              <a:rPr b="1"/>
              <a:t>帧级差异化</a:t>
            </a:r>
            <a:r>
              <a:rPr/>
              <a:t> 而非静态/动态分离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VidCom² 方法详解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Stage 1 — 帧独特性量化</a:t>
                </a:r>
                <a:r>
                  <a:rPr/>
                  <a:t>： - 全局视频表示：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nor/>
                        <m:sty m:val="p"/>
                      </m:rPr>
                      <m:t>mean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all tokens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- Token 视频级独特性：</a:t>
                </a:r>
                <a14:m>
                  <m:oMath xmlns:m="http://schemas.openxmlformats.org/officeDocument/2006/math">
                    <m:sSubSup>
                      <m:e>
                        <m:r>
                          <m:t>u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m</m:t>
                        </m:r>
                      </m:sub>
                      <m:sup>
                        <m:r>
                          <m:t>v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e</m:t>
                        </m:r>
                        <m:r>
                          <m:t>o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p"/>
                      </m:rPr>
                      <m:t>cos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g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- 帧分数：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rPr>
                            <m:nor/>
                            <m:sty m:val="p"/>
                          </m:rPr>
                          <m:t>mean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sSubSup>
                      <m:e>
                        <m:r>
                          <m:t>u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m</m:t>
                        </m:r>
                      </m:sub>
                      <m:sup>
                        <m:r>
                          <m:t>v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e</m:t>
                        </m:r>
                        <m:r>
                          <m:t>o</m:t>
                        </m:r>
                      </m:sup>
                    </m:sSub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- Softmax 得权重 </a:t>
                </a:r>
                <a14:m>
                  <m:oMath xmlns:m="http://schemas.openxmlformats.org/officeDocument/2006/math"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，调整保留率：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R</m:t>
                    </m:r>
                    <m:r>
                      <m:rPr>
                        <m:sty m:val="p"/>
                      </m:rPr>
                      <m:t>×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Stage 2 — Token 选择</a:t>
                </a:r>
                <a:r>
                  <a:rPr/>
                  <a:t>： - 综合分数：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u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m</m:t>
                        </m:r>
                      </m:sub>
                      <m:sup>
                        <m:r>
                          <m:t>f</m:t>
                        </m:r>
                        <m:r>
                          <m:t>r</m:t>
                        </m:r>
                        <m:r>
                          <m:t>a</m:t>
                        </m:r>
                        <m:r>
                          <m:t>m</m:t>
                        </m:r>
                        <m:r>
                          <m:t>e</m:t>
                        </m:r>
                      </m:sup>
                    </m:sSubSup>
                    <m:r>
                      <m:rPr>
                        <m:sty m:val="p"/>
                      </m:rPr>
                      <m:t>+</m:t>
                    </m:r>
                    <m:sSubSup>
                      <m:e>
                        <m:r>
                          <m:t>u</m:t>
                        </m:r>
                      </m:e>
                      <m:sub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m</m:t>
                        </m:r>
                      </m:sub>
                      <m:sup>
                        <m:r>
                          <m:t>v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e</m:t>
                        </m:r>
                        <m:r>
                          <m:t>o</m:t>
                        </m:r>
                      </m:sup>
                    </m:sSubSup>
                  </m:oMath>
                </a14:m>
                <a:r>
                  <a:rPr/>
                  <a:t> - 每帧 TopK(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×</m:t>
                    </m:r>
                    <m:r>
                      <m:t>M</m:t>
                    </m:r>
                  </m:oMath>
                </a14:m>
                <a:r>
                  <a:rPr/>
                  <a:t>) 保留最独特 token</a:t>
                </a:r>
              </a:p>
              <a:p>
                <a:pPr lvl="0" indent="0" marL="0">
                  <a:buNone/>
                </a:pPr>
                <a:r>
                  <a:rPr b="1"/>
                  <a:t>效率</a:t>
                </a:r>
                <a:r>
                  <a:rPr/>
                  <a:t>：R=25% 时 LLM 生成延迟 ↓</a:t>
                </a:r>
                <a:r>
                  <a:rPr b="1"/>
                  <a:t>70.8%</a:t>
                </a:r>
                <a:r>
                  <a:rPr/>
                  <a:t>，性能达 upper bound 的 </a:t>
                </a:r>
                <a:r>
                  <a:rPr b="1"/>
                  <a:t>99.6%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VidCom² 实验结果与复现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LLaVA-OV-7B, R=25%</a:t>
            </a:r>
            <a:r>
              <a:rPr/>
              <a:t>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MVBench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LongVideo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MLVU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VideoMME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Avg%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PruneVid*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55.7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98.6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DyCoke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49.5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48.1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55.8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87.0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SparseVLM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56.4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53.9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97.5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VidCom²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57.2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54.9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62.5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58.6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99.6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*PruneVid 数据来自 AOT 论文对比表</a:t>
            </a:r>
          </a:p>
          <a:p>
            <a:pPr lvl="0" indent="0" marL="0">
              <a:buNone/>
            </a:pPr>
            <a:r>
              <a:rPr b="1"/>
              <a:t>我的复现</a:t>
            </a:r>
            <a:r>
              <a:rPr/>
              <a:t>：conda </a:t>
            </a:r>
            <a:r>
              <a:rPr>
                <a:latin typeface="Courier"/>
              </a:rPr>
              <a:t>VidCom2</a:t>
            </a:r>
            <a:r>
              <a:rPr/>
              <a:t> 环境已搭建，MVBench smoke test 通过；全量 Table 1 流水线启动中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论文 ③ AOT（CVPR 2026）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Token Reduction via Local and Global Contexts Optimization</a:t>
            </a:r>
          </a:p>
          <a:p>
            <a:pPr lvl="0" indent="0" marL="0">
              <a:buNone/>
            </a:pPr>
            <a:r>
              <a:rPr b="1"/>
              <a:t>arXiv</a:t>
            </a:r>
            <a:r>
              <a:rPr/>
              <a:t>：2603.01400 | </a:t>
            </a:r>
            <a:r>
              <a:rPr b="1"/>
              <a:t>代码</a:t>
            </a:r>
            <a:r>
              <a:rPr/>
              <a:t>：github.com/TyroneLi/AOT</a:t>
            </a:r>
          </a:p>
          <a:p>
            <a:pPr lvl="0" indent="0" marL="0">
              <a:buNone/>
            </a:pPr>
            <a:r>
              <a:rPr b="1"/>
              <a:t>全称</a:t>
            </a:r>
            <a:r>
              <a:rPr/>
              <a:t>：Anchors + Optimal Transport</a:t>
            </a:r>
            <a:br/>
            <a:r>
              <a:rPr b="1"/>
              <a:t>核心问题</a:t>
            </a:r>
            <a:r>
              <a:rPr/>
              <a:t>：PruneVid / VidCom² 等方法在「删掉/合并」token 时，</a:t>
            </a:r>
            <a:r>
              <a:rPr b="1"/>
              <a:t>丢失被删 token 中的细粒度语义</a:t>
            </a:r>
          </a:p>
          <a:p>
            <a:pPr lvl="0" indent="0" marL="0">
              <a:buNone/>
            </a:pPr>
            <a:r>
              <a:rPr b="1"/>
              <a:t>关键洞察</a:t>
            </a:r>
            <a:r>
              <a:rPr/>
              <a:t>： - 不是简单丢弃低分 token，而是选 </a:t>
            </a:r>
            <a:r>
              <a:rPr b="1"/>
              <a:t>Anchor（锚点）</a:t>
            </a:r>
            <a:r>
              <a:rPr/>
              <a:t>，用 </a:t>
            </a:r>
            <a:r>
              <a:rPr b="1"/>
              <a:t>最优传输（OT）</a:t>
            </a:r>
            <a:r>
              <a:rPr/>
              <a:t> 把被删 token 的信息 </a:t>
            </a:r>
            <a:r>
              <a:rPr b="1"/>
              <a:t>聚合</a:t>
            </a:r>
            <a:r>
              <a:rPr/>
              <a:t> 到锚点上 - 分 </a:t>
            </a:r>
            <a:r>
              <a:rPr b="1"/>
              <a:t>帧内（Intra）</a:t>
            </a:r>
            <a:r>
              <a:rPr/>
              <a:t> 和 </a:t>
            </a:r>
            <a:r>
              <a:rPr b="1"/>
              <a:t>帧间（Inter）</a:t>
            </a:r>
            <a:r>
              <a:rPr/>
              <a:t> 两阶段，兼顾空间多样性与时序动态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AOT 方法（1/2）：锚点选取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Global Anchors</a:t>
                </a:r>
                <a:r>
                  <a:rPr/>
                  <a:t>：ViT 最后一层，按 [CLS] attention Top-K 选全局重要 token</a:t>
                </a:r>
                <a:br/>
                <a:r>
                  <a:rPr b="1"/>
                  <a:t>Local Anchors</a:t>
                </a:r>
                <a:r>
                  <a:rPr/>
                  <a:t>：将特征图划分为 W 个 grid window，每窗 Top-K，保留局部细节（类似 AnyRes）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rPr>
                              <m:sty m:val="bi"/>
                            </m:rPr>
                            <m:t>X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anchors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m:t>x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t>g</m:t>
                          </m:r>
                        </m:sup>
                      </m:sSubSup>
                      <m:r>
                        <m:rPr>
                          <m:sty m:val="p"/>
                        </m:rPr>
                        <m:t>∪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m:t>x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t>l</m:t>
                          </m:r>
                        </m:sup>
                      </m:sSubSup>
                    </m:oMath>
                  </m:oMathPara>
                </a14:m>
              </a:p>
              <a:p>
                <a:pPr lvl="0"/>
                <a:r>
                  <a:rPr/>
                  <a:t>全局 + 局部各约占一半预算，去重后作为 </a:t>
                </a:r>
                <a:r>
                  <a:rPr b="1"/>
                  <a:t>M 个锚点</a:t>
                </a:r>
              </a:p>
              <a:p>
                <a:pPr lvl="0"/>
                <a:r>
                  <a:rPr/>
                  <a:t>其余 token 记为 </a:t>
                </a:r>
                <a:r>
                  <a:rPr b="1"/>
                  <a:t>unanchors</a:t>
                </a:r>
                <a:r>
                  <a:rPr/>
                  <a:t>，等待 OT 聚合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AOT 方法（2/2）：最优传输聚合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帧内 OT</a:t>
                </a:r>
                <a:r>
                  <a:rPr/>
                  <a:t>： - Cost matrix：锚点与 unanchors 的 </a:t>
                </a:r>
                <a:r>
                  <a:rPr b="1"/>
                  <a:t>余弦距离</a:t>
                </a:r>
                <a:r>
                  <a:rPr/>
                  <a:t> - 用 </a:t>
                </a:r>
                <a:r>
                  <a:rPr b="1"/>
                  <a:t>Sinkhorn-Knopp</a:t>
                </a:r>
                <a:r>
                  <a:rPr/>
                  <a:t> 迭代求 transport plan </a:t>
                </a:r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m:t>*</m:t>
                        </m:r>
                      </m:sup>
                    </m:sSup>
                  </m:oMath>
                </a14:m>
                <a:r>
                  <a:rPr/>
                  <a:t> - 锚点更新：</a:t>
                </a:r>
                <a14:m>
                  <m:oMath xmlns:m="http://schemas.openxmlformats.org/officeDocument/2006/math">
                    <m:sSubSup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x</m:t>
                            </m:r>
                          </m:e>
                        </m:acc>
                      </m:e>
                      <m:sub>
                        <m:r>
                          <m:t>j</m:t>
                        </m:r>
                      </m:sub>
                      <m:sup>
                        <m:r>
                          <m:t>a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r>
                              <m:t>a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λ</m:t>
                        </m:r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</m:naryPr>
                          <m:sub>
                            <m:r>
                              <m:t>i</m:t>
                            </m:r>
                          </m:sub>
                          <m:sup>
                            <m:r>
                              <m:t>​</m:t>
                            </m:r>
                          </m:sup>
                          <m:e>
                            <m:sSubSup>
                              <m:e>
                                <m:r>
                                  <m:t>T</m:t>
                                </m:r>
                              </m:e>
                              <m:sub>
                                <m:r>
                                  <m:t>i</m:t>
                                </m:r>
                                <m:r>
                                  <m:t>j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*</m:t>
                                </m:r>
                              </m:sup>
                            </m:sSubSup>
                          </m:e>
                        </m:nary>
                        <m:sSubSup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  <m:sup>
                            <m:r>
                              <m:t>u</m:t>
                            </m:r>
                          </m:sup>
                        </m:sSubSup>
                      </m:num>
                      <m:den>
                        <m:r>
                          <m:t>1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λ</m:t>
                        </m:r>
                        <m:sSub>
                          <m:e>
                            <m:r>
                              <m:t>m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帧间 OT</a:t>
                </a:r>
                <a:r>
                  <a:rPr/>
                  <a:t>： - 将视频分为 clip，首帧为 temporal anchor - 后续帧 token 与 anchor 做 OT；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τ</m:t>
                    </m:r>
                  </m:oMath>
                </a14:m>
                <a:r>
                  <a:rPr/>
                  <a:t> 的 token </a:t>
                </a:r>
                <a:r>
                  <a:rPr b="1"/>
                  <a:t>保留</a:t>
                </a:r>
                <a:r>
                  <a:rPr/>
                  <a:t>（时序变化大） - 相似 token </a:t>
                </a:r>
                <a:r>
                  <a:rPr b="1"/>
                  <a:t>聚合</a:t>
                </a:r>
                <a:r>
                  <a:rPr/>
                  <a:t>进 anchor → 保留动态、压缩冗余</a:t>
                </a:r>
              </a:p>
              <a:p>
                <a:pPr lvl="0" indent="0" marL="0">
                  <a:buNone/>
                </a:pPr>
                <a:r>
                  <a:rPr b="1"/>
                  <a:t>优势</a:t>
                </a:r>
                <a:r>
                  <a:rPr/>
                  <a:t>：10% 保留率下仍保持 </a:t>
                </a:r>
                <a:r>
                  <a:rPr b="1"/>
                  <a:t>97.6%</a:t>
                </a:r>
                <a:r>
                  <a:rPr/>
                  <a:t> 原始性能（论文 claim）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AOT 实验结果（LLaVA-OV-7B, R=25%）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MVBench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EgoSchema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LongVideo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VideoMME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Avg%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58.3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60.4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56.4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58.6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PruneVid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59.9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55.7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98.6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VidCom²*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54.9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58.6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99.6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AOT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58.7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61.3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56.3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*VidCom² 来自各自论文 Table 1（benchmark 略有差异）</a:t>
            </a:r>
          </a:p>
          <a:p>
            <a:pPr lvl="0"/>
            <a:r>
              <a:rPr/>
              <a:t>FLOPs 降至原始的 </a:t>
            </a:r>
            <a:r>
              <a:rPr b="1"/>
              <a:t>21.3%</a:t>
            </a:r>
            <a:r>
              <a:rPr/>
              <a:t>（R=25%），R=15% 时仅 </a:t>
            </a:r>
            <a:r>
              <a:rPr b="1"/>
              <a:t>8.3%</a:t>
            </a:r>
            <a:r>
              <a:rPr/>
              <a:t> FLOPs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AOT 复现进展（我的工作）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环境</a:t>
            </a:r>
            <a:r>
              <a:rPr/>
              <a:t>：conda </a:t>
            </a:r>
            <a:r>
              <a:rPr>
                <a:latin typeface="Courier"/>
              </a:rPr>
              <a:t>AOT</a:t>
            </a:r>
            <a:r>
              <a:rPr/>
              <a:t>，LLaVA-NeXT + lmms-eval，2× RTX 4090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复现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论文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MVBench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10–25%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56.7–57.8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57.0–58.7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-0.3 ~ -1.0</a:t>
                      </a:r>
                      <a:r>
                        <a:rPr/>
                        <a:t> 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EgoSchema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10–25%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94–99% 预测一致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60.6–61.3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submission 对齐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LongVideoBench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10–25%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52.1–53.2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54.2–56.3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-2 ~ -3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VideoMME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10–20%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53.3–53.7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56.1–57.2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-2.8 ~ -3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结论</a:t>
            </a:r>
            <a:r>
              <a:rPr/>
              <a:t>：MVBench 高度对齐；VideoMME / LongVideoBench 有 2–3pt gap，仍在补跑 20%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三篇论文横向对比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PruneVid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VidCom²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AOT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发表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ICLR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EMNLP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CVPR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压缩位置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Pre-LLM + LLM内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Pre-LLM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Pre-LLM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时序建模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静态 token 时序均值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帧级预算分配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OT 帧间聚合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空间建模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DPC-KNN 聚类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TopK 独特性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Global+Local 锚点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文本感知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Q→V attention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核心数学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Attention + 聚类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Softmax 权重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Sinkhorn 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R=25% Avg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98.6%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99.6%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100.0%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GitHub Stars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方法演进脉络（我的理解）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PruneVid (ICLR'25)          VidCom² (EMNLP'25)         AOT (CVPR'26)
─────────────────          ──────────────────         ──────────────
时空合并 +                  帧级自适应                  OT 聚合替代
LLM 问题剪枝        →      Pre-LLM TopK        →      简单丢弃/合并
Hybrid 路线                 兼容 FlashAttn              保留被删语义</a:t>
            </a:r>
          </a:p>
          <a:p>
            <a:pPr lvl="0" indent="0" marL="0">
              <a:buNone/>
            </a:pPr>
            <a:r>
              <a:rPr b="1"/>
              <a:t>趋势</a:t>
            </a:r>
            <a:r>
              <a:rPr/>
              <a:t>： 1. 从 </a:t>
            </a:r>
            <a:r>
              <a:rPr b="1"/>
              <a:t>均匀压缩</a:t>
            </a:r>
            <a:r>
              <a:rPr/>
              <a:t> → </a:t>
            </a:r>
            <a:r>
              <a:rPr b="1"/>
              <a:t>帧/token 级自适应</a:t>
            </a:r>
            <a:r>
              <a:rPr/>
              <a:t> 2. 从 </a:t>
            </a:r>
            <a:r>
              <a:rPr b="1"/>
              <a:t>LLM 内剪枝</a:t>
            </a:r>
            <a:r>
              <a:rPr/>
              <a:t> → </a:t>
            </a:r>
            <a:r>
              <a:rPr b="1"/>
              <a:t>Pre-LLM 压缩</a:t>
            </a:r>
            <a:r>
              <a:rPr/>
              <a:t>（VidCom²、AOT） 3. 从 </a:t>
            </a:r>
            <a:r>
              <a:rPr b="1"/>
              <a:t>直接丢弃</a:t>
            </a:r>
            <a:r>
              <a:rPr/>
              <a:t> → </a:t>
            </a:r>
            <a:r>
              <a:rPr b="1"/>
              <a:t>信息聚合保留</a:t>
            </a:r>
            <a:r>
              <a:rPr/>
              <a:t>（AOT 的 OT）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面试可讨论的问题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PruneVid 的 text-guided 剪枝 vs AOT 的 text-agnostic</a:t>
            </a:r>
            <a:r>
              <a:rPr/>
              <a:t>：为何 AOT 在 EgoSchema 上反而更强？</a:t>
            </a:r>
          </a:p>
          <a:p>
            <a:pPr lvl="0" indent="-342900" marL="342900">
              <a:buAutoNum type="arabicPeriod"/>
            </a:pPr>
            <a:r>
              <a:rPr b="1"/>
              <a:t>VidCom² 能否与 PruneVid / AOT 组合</a:t>
            </a:r>
            <a:r>
              <a:rPr/>
              <a:t>：帧级调度 + OT 聚合是否互补？</a:t>
            </a:r>
          </a:p>
          <a:p>
            <a:pPr lvl="0" indent="-342900" marL="342900">
              <a:buAutoNum type="arabicPeriod"/>
            </a:pPr>
            <a:r>
              <a:rPr b="1"/>
              <a:t>复现 gap</a:t>
            </a:r>
            <a:r>
              <a:rPr/>
              <a:t>：AOT VideoMME -2.8pt 可能来自帧数、随机种子、还是数据版本？</a:t>
            </a:r>
          </a:p>
          <a:p>
            <a:pPr lvl="0" indent="-342900" marL="342900">
              <a:buAutoNum type="arabicPeriod"/>
            </a:pPr>
            <a:r>
              <a:rPr b="1"/>
              <a:t>评价协议</a:t>
            </a:r>
            <a:r>
              <a:rPr/>
              <a:t>：EgoSchema 必须走 validation server；三篇论文 benchmark 设置不完全一致</a:t>
            </a:r>
          </a:p>
          <a:p>
            <a:pPr lvl="0" indent="-342900" marL="342900">
              <a:buAutoNum type="arabicPeriod"/>
            </a:pPr>
            <a:r>
              <a:rPr b="1"/>
              <a:t>下一步</a:t>
            </a:r>
            <a:r>
              <a:rPr/>
              <a:t>：是否在复现基础上做 ablation 或提出改进？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总结与下一步计划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已完成</a:t>
            </a:r>
            <a:r>
              <a:rPr/>
              <a:t>： - ✅ 三篇论文精读与横向对比 - ✅ AOT 主实验大部分复现（MVBench 对齐） - ✅ PruneVid / VidCom² 环境与管线搭建</a:t>
            </a:r>
          </a:p>
          <a:p>
            <a:pPr lvl="0" indent="0" marL="0">
              <a:buNone/>
            </a:pPr>
            <a:r>
              <a:rPr b="1"/>
              <a:t>进行中</a:t>
            </a:r>
            <a:r>
              <a:rPr/>
              <a:t>： - PruneVid EgoSchema fullset - VidCom² Table 1 全量评测 - AOT VideoMME @ 20%</a:t>
            </a:r>
          </a:p>
          <a:p>
            <a:pPr lvl="0" indent="0" marL="0">
              <a:buNone/>
            </a:pPr>
            <a:r>
              <a:rPr b="1"/>
              <a:t>汇报顺序</a:t>
            </a:r>
            <a:r>
              <a:rPr/>
              <a:t>： 1. PruneVid → 2. VidCom² → 3. AOT → 4. 对比讨论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谢谢老师！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欢迎提问与指正</a:t>
            </a:r>
          </a:p>
          <a:p>
            <a:pPr lvl="0" indent="0" marL="0">
              <a:buNone/>
            </a:pPr>
            <a:r>
              <a:rPr b="1"/>
              <a:t>参考资料</a:t>
            </a:r>
            <a:r>
              <a:rPr/>
              <a:t>： - PruneVid: arXiv:2412.16117 | github.com/Visual-AI/PruneVid - VidCom²: arXiv:2505.14454 | github.com/xuyang-liu16/VidCom2 - AOT: arXiv:2603.01400 | github.com/TyroneLi/AOT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2026-06-27T09:43:56Z</dcterms:created>
  <dcterms:modified xsi:type="dcterms:W3CDTF">2026-06-27T09:43:56Z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ize">
    <vt:lpwstr>16:9</vt:lpwstr>
  </property>
  <property fmtid="{D5CDD505-2E9C-101B-9397-08002B2CF9AE}" pid="5" name="theme">
    <vt:lpwstr>default</vt:lpwstr>
  </property>
</Properties>
</file>